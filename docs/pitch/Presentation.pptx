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2"/>
  </p:normalViewPr>
  <p:slideViewPr>
    <p:cSldViewPr snapToGrid="0">
      <p:cViewPr>
        <p:scale>
          <a:sx n="120" d="100"/>
          <a:sy n="120" d="100"/>
        </p:scale>
        <p:origin x="5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9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3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5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6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2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94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7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1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9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6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3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0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A1DF0-EFB0-3E9B-626A-F20E19877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n-FR" sz="6000" dirty="0"/>
              <a:t>PhageMatch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7224F-A8B4-0EC3-20D1-D78B198F1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2092505"/>
            <a:ext cx="4718606" cy="845487"/>
          </a:xfrm>
        </p:spPr>
        <p:txBody>
          <a:bodyPr anchor="b">
            <a:normAutofit/>
          </a:bodyPr>
          <a:lstStyle/>
          <a:p>
            <a:r>
              <a:rPr lang="en-GB" dirty="0"/>
              <a:t>Revolutionizing Phage Therapy Selection</a:t>
            </a:r>
            <a:endParaRPr lang="en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A778D6-72E6-D3A1-74BD-C1B1EA68F9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69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8E63A91-9170-16EE-8BDB-7510D9515A6D}"/>
              </a:ext>
            </a:extLst>
          </p:cNvPr>
          <p:cNvSpPr txBox="1">
            <a:spLocks/>
          </p:cNvSpPr>
          <p:nvPr/>
        </p:nvSpPr>
        <p:spPr>
          <a:xfrm>
            <a:off x="703399" y="4967333"/>
            <a:ext cx="4718606" cy="845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Saarland University | </a:t>
            </a:r>
            <a:r>
              <a:rPr lang="en-GB" dirty="0" err="1"/>
              <a:t>Bioinfromatics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94856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933F-C966-FAA0-FCFB-7984F9DD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Challenge We Face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FEFD-9DF9-0D09-8854-F982ED658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Big Problem:</a:t>
            </a:r>
            <a:r>
              <a:rPr lang="en-GB" dirty="0"/>
              <a:t> Antibiotic-resistant bacterial infections are a major and growing threat to global public health. Traditional antibiotics are becoming less effective.</a:t>
            </a:r>
          </a:p>
          <a:p>
            <a:endParaRPr lang="en-GB" b="1" dirty="0"/>
          </a:p>
          <a:p>
            <a:r>
              <a:rPr lang="en-GB" b="1" dirty="0"/>
              <a:t>A Promising Alternative:</a:t>
            </a:r>
            <a:r>
              <a:rPr lang="en-GB" dirty="0"/>
              <a:t> Phage therapy, which uses viruses called bacteriophages (</a:t>
            </a:r>
            <a:r>
              <a:rPr lang="en-GB" dirty="0" err="1"/>
              <a:t>phages</a:t>
            </a:r>
            <a:r>
              <a:rPr lang="en-GB" dirty="0"/>
              <a:t>) to specifically target and destroy bacteria, offers a powerful alternative.</a:t>
            </a:r>
          </a:p>
          <a:p>
            <a:endParaRPr lang="en-GB" b="1" dirty="0"/>
          </a:p>
          <a:p>
            <a:r>
              <a:rPr lang="en-GB" b="1" dirty="0"/>
              <a:t>The Bottleneck:</a:t>
            </a:r>
            <a:r>
              <a:rPr lang="en-GB" dirty="0"/>
              <a:t> However, finding the </a:t>
            </a:r>
            <a:r>
              <a:rPr lang="en-GB" i="1" dirty="0"/>
              <a:t>right</a:t>
            </a:r>
            <a:r>
              <a:rPr lang="en-GB" dirty="0"/>
              <a:t> phage for a specific infection is currently slow, difficult, and uncertain. This is due to the complex ways </a:t>
            </a:r>
            <a:r>
              <a:rPr lang="en-GB" dirty="0" err="1"/>
              <a:t>phages</a:t>
            </a:r>
            <a:r>
              <a:rPr lang="en-GB" dirty="0"/>
              <a:t> interact with bacteria.</a:t>
            </a:r>
            <a:br>
              <a:rPr lang="en-GB" dirty="0"/>
            </a:b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63408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3C72-8898-49D2-6BE8-B9496C01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Difficulty of Current Phage Selection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D00C-327E-74EE-5076-46867C84F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Existing methods for matching </a:t>
            </a:r>
            <a:r>
              <a:rPr lang="en-GB" dirty="0" err="1"/>
              <a:t>phages</a:t>
            </a:r>
            <a:r>
              <a:rPr lang="en-GB" dirty="0"/>
              <a:t> to bacterial infections are</a:t>
            </a:r>
            <a:r>
              <a:rPr lang="en-GB" b="1" dirty="0"/>
              <a:t> </a:t>
            </a:r>
            <a:r>
              <a:rPr lang="en-GB" dirty="0"/>
              <a:t>time-consuming and </a:t>
            </a:r>
            <a:r>
              <a:rPr lang="en-GB" dirty="0" err="1"/>
              <a:t>labor-intensive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They rely on empirical selection methods that lack the necessary speed and precision, especially for critical clinical settings.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process is often uncertain because single types of data don't capture the full picture of complex phage-host interactions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4846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C6B4-75F9-4B6D-4045-B8A3C202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Introducing </a:t>
            </a:r>
            <a:r>
              <a:rPr lang="en-GB" b="1" dirty="0" err="1"/>
              <a:t>PhageMatch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2668-F19B-FE39-227A-F5BE08B43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Our Solution:</a:t>
            </a:r>
            <a:r>
              <a:rPr lang="en-GB" dirty="0"/>
              <a:t> </a:t>
            </a:r>
            <a:r>
              <a:rPr lang="en-GB" dirty="0" err="1"/>
              <a:t>PhageMatch</a:t>
            </a:r>
            <a:r>
              <a:rPr lang="en-GB" dirty="0"/>
              <a:t> is a next-generation machine learning platform designed to solve the challenge of phage selection.</a:t>
            </a:r>
          </a:p>
          <a:p>
            <a:endParaRPr lang="en-GB" b="1" dirty="0"/>
          </a:p>
          <a:p>
            <a:r>
              <a:rPr lang="en-GB" b="1" dirty="0"/>
              <a:t>Our Goal:</a:t>
            </a:r>
            <a:r>
              <a:rPr lang="en-GB" dirty="0"/>
              <a:t> We optimize the process of finding the most effective </a:t>
            </a:r>
            <a:r>
              <a:rPr lang="en-GB" dirty="0" err="1"/>
              <a:t>phages</a:t>
            </a:r>
            <a:r>
              <a:rPr lang="en-GB" dirty="0"/>
              <a:t> for specific bacterial infections.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PhageMatch</a:t>
            </a:r>
            <a:r>
              <a:rPr lang="en-GB" dirty="0"/>
              <a:t> provides a faster, more precise solution for discovering suitable </a:t>
            </a:r>
            <a:r>
              <a:rPr lang="en-GB" dirty="0" err="1"/>
              <a:t>phages</a:t>
            </a:r>
            <a:r>
              <a:rPr lang="en-GB" dirty="0"/>
              <a:t>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97088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C4E2-3F7D-6EAC-5AB4-94D7AC57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</a:t>
            </a:r>
            <a:r>
              <a:rPr lang="en-GB" b="1" dirty="0" err="1"/>
              <a:t>PhageMatch</a:t>
            </a:r>
            <a:r>
              <a:rPr lang="en-GB" b="1" dirty="0"/>
              <a:t> Works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5ECC5-7476-03E6-C05B-995A694DC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PhageMatch</a:t>
            </a:r>
            <a:r>
              <a:rPr lang="en-GB" dirty="0"/>
              <a:t> takes information about a bacterial infection as input.</a:t>
            </a:r>
          </a:p>
          <a:p>
            <a:endParaRPr lang="en-GB" dirty="0"/>
          </a:p>
          <a:p>
            <a:r>
              <a:rPr lang="en-GB" dirty="0"/>
              <a:t>Think of it like a powerful AI that </a:t>
            </a:r>
            <a:r>
              <a:rPr lang="en-GB" dirty="0" err="1"/>
              <a:t>analyzes</a:t>
            </a:r>
            <a:r>
              <a:rPr lang="en-GB" dirty="0"/>
              <a:t> vast amounts of data to understand how </a:t>
            </a:r>
            <a:r>
              <a:rPr lang="en-GB" dirty="0" err="1"/>
              <a:t>phages</a:t>
            </a:r>
            <a:r>
              <a:rPr lang="en-GB" dirty="0"/>
              <a:t> and bacteria interact.</a:t>
            </a:r>
          </a:p>
          <a:p>
            <a:endParaRPr lang="en-GB" dirty="0"/>
          </a:p>
          <a:p>
            <a:r>
              <a:rPr lang="en-GB" dirty="0"/>
              <a:t>The platform then provides a ranked list of recommended </a:t>
            </a:r>
            <a:r>
              <a:rPr lang="en-GB" dirty="0" err="1"/>
              <a:t>phages</a:t>
            </a:r>
            <a:r>
              <a:rPr lang="en-GB" dirty="0"/>
              <a:t> that are predicted to be most effective against the targeted bacteria, even quantifying the predicted effectiveness.</a:t>
            </a:r>
          </a:p>
          <a:p>
            <a:pPr marL="0" indent="0">
              <a:buNone/>
            </a:pP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70252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4BE9-D24C-A2FA-EF44-CD946A94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</a:t>
            </a:r>
            <a:r>
              <a:rPr lang="en-GB" b="1" dirty="0" err="1"/>
              <a:t>PhageMatch</a:t>
            </a:r>
            <a:r>
              <a:rPr lang="en-GB" b="1" dirty="0"/>
              <a:t> is Unique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3B01-8886-E835-87AB-5C4ED1DB0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Data Integration:</a:t>
            </a:r>
            <a:r>
              <a:rPr lang="en-GB" dirty="0"/>
              <a:t> </a:t>
            </a:r>
            <a:r>
              <a:rPr lang="en-GB" dirty="0" err="1"/>
              <a:t>PhageMatch</a:t>
            </a:r>
            <a:r>
              <a:rPr lang="en-GB" dirty="0"/>
              <a:t> is unique because it combines biological data which current approaches often miss. This gives us a more complete understanding and enhances accuracy.</a:t>
            </a:r>
          </a:p>
          <a:p>
            <a:r>
              <a:rPr lang="en-GB" b="1" dirty="0"/>
              <a:t>Advanced AI:</a:t>
            </a:r>
            <a:r>
              <a:rPr lang="en-GB" dirty="0"/>
              <a:t> We leverage cutting-edge machine learning techniques like Graph Neural Networks and Self-Supervised Learning to predict interactions with high precision. This allows us to learn from large amounts of data and even generalize to new </a:t>
            </a:r>
            <a:r>
              <a:rPr lang="en-GB" dirty="0" err="1"/>
              <a:t>phages</a:t>
            </a:r>
            <a:r>
              <a:rPr lang="en-GB" dirty="0"/>
              <a:t> or bacteria.</a:t>
            </a:r>
          </a:p>
          <a:p>
            <a:r>
              <a:rPr lang="en-GB" b="1" dirty="0"/>
              <a:t>Efficiency:</a:t>
            </a:r>
            <a:r>
              <a:rPr lang="en-GB" dirty="0"/>
              <a:t> By using this data-driven approach, </a:t>
            </a:r>
            <a:r>
              <a:rPr lang="en-GB" dirty="0" err="1"/>
              <a:t>PhageMatch</a:t>
            </a:r>
            <a:r>
              <a:rPr lang="en-GB" dirty="0"/>
              <a:t> significantly reduces the time and cost typically needed for phage selection.</a:t>
            </a:r>
          </a:p>
        </p:txBody>
      </p:sp>
    </p:spTree>
    <p:extLst>
      <p:ext uri="{BB962C8B-B14F-4D97-AF65-F5344CB8AC3E}">
        <p14:creationId xmlns:p14="http://schemas.microsoft.com/office/powerpoint/2010/main" val="406499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672C-9DBE-6C9A-D0A5-6BFEF753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Applications and Impact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FA12-AF57-6859-3401-B78CD3AA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Healthcare:</a:t>
            </a:r>
            <a:r>
              <a:rPr lang="en-GB" dirty="0"/>
              <a:t> </a:t>
            </a:r>
            <a:r>
              <a:rPr lang="en-GB" dirty="0" err="1"/>
              <a:t>PhageMatch</a:t>
            </a:r>
            <a:r>
              <a:rPr lang="en-GB" dirty="0"/>
              <a:t> helps hospitals and clinics fight multi-drug-resistant infections with personalized, precision phage therapy. This can improve patient outcomes and potentially reduce healthcare costs.</a:t>
            </a:r>
          </a:p>
          <a:p>
            <a:r>
              <a:rPr lang="en-GB" b="1" dirty="0"/>
              <a:t>Agriculture &amp; Veterinary Medicine:</a:t>
            </a:r>
            <a:r>
              <a:rPr lang="en-GB" dirty="0"/>
              <a:t> It assists in managing bacterial outbreaks in crops and livestock, contributing to food safety and productivity while reducing economic losses.</a:t>
            </a:r>
          </a:p>
          <a:p>
            <a:r>
              <a:rPr lang="en-GB" b="1" dirty="0"/>
              <a:t>Research &amp; Industry:</a:t>
            </a:r>
            <a:r>
              <a:rPr lang="en-GB" dirty="0"/>
              <a:t> We accelerate the discovery and development of new phage therapies and products.</a:t>
            </a:r>
          </a:p>
          <a:p>
            <a:r>
              <a:rPr lang="en-GB" b="1" dirty="0"/>
              <a:t>Overall Impact:</a:t>
            </a:r>
            <a:r>
              <a:rPr lang="en-GB" dirty="0"/>
              <a:t> </a:t>
            </a:r>
            <a:r>
              <a:rPr lang="en-GB" dirty="0" err="1"/>
              <a:t>PhageMatch</a:t>
            </a:r>
            <a:r>
              <a:rPr lang="en-GB" dirty="0"/>
              <a:t> is a transformative step towards precision medicine and offers a scalable, cost-effective solution to the global antibiotic resistance crisis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62887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A680-EB01-E73D-2B06-8D22F31F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We Generate Value &amp; Revenue</a:t>
            </a:r>
            <a:endParaRPr lang="en-F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9E8A8-08D6-1C7C-76E3-DB0A8131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Problem We Solve:</a:t>
            </a:r>
            <a:r>
              <a:rPr lang="en-GB" dirty="0"/>
              <a:t> Current methods for finding the right phage for an infection are slow, costly, and uncertain. </a:t>
            </a:r>
            <a:r>
              <a:rPr lang="en-GB" dirty="0" err="1"/>
              <a:t>PhageMatch</a:t>
            </a:r>
            <a:r>
              <a:rPr lang="en-GB" dirty="0"/>
              <a:t> provides a faster, more precise, data-driven solution.</a:t>
            </a:r>
          </a:p>
          <a:p>
            <a:pPr marL="0" indent="0">
              <a:buNone/>
            </a:pPr>
            <a:r>
              <a:rPr lang="en-GB" b="1" dirty="0"/>
              <a:t>Our Customers:</a:t>
            </a:r>
            <a:endParaRPr lang="en-GB" dirty="0"/>
          </a:p>
          <a:p>
            <a:r>
              <a:rPr lang="en-GB" b="1" dirty="0"/>
              <a:t>Healthcare</a:t>
            </a:r>
          </a:p>
          <a:p>
            <a:r>
              <a:rPr lang="en-GB" b="1" dirty="0"/>
              <a:t>Agriculture &amp; Veterinary Medicine</a:t>
            </a:r>
          </a:p>
          <a:p>
            <a:r>
              <a:rPr lang="en-GB" b="1" dirty="0"/>
              <a:t>Research &amp; Biotechnology Industry</a:t>
            </a:r>
            <a:endParaRPr lang="en-GB" dirty="0"/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4825759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518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PhageMatch</vt:lpstr>
      <vt:lpstr>The Challenge We Face</vt:lpstr>
      <vt:lpstr>The Difficulty of Current Phage Selection</vt:lpstr>
      <vt:lpstr>Introducing PhageMatch</vt:lpstr>
      <vt:lpstr>How PhageMatch Works</vt:lpstr>
      <vt:lpstr>Why PhageMatch is Unique</vt:lpstr>
      <vt:lpstr>Applications and Impact</vt:lpstr>
      <vt:lpstr>How We Generate Value &amp; Revenue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Hanif</dc:creator>
  <cp:lastModifiedBy>Abdullah Hanif</cp:lastModifiedBy>
  <cp:revision>15</cp:revision>
  <dcterms:created xsi:type="dcterms:W3CDTF">2025-05-22T15:36:41Z</dcterms:created>
  <dcterms:modified xsi:type="dcterms:W3CDTF">2025-05-23T07:16:47Z</dcterms:modified>
</cp:coreProperties>
</file>